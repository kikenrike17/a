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895AD-3D48-8D3E-0BCE-FA6E0B16A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5EE34E-A602-1501-5397-48E5BD32C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B2F0D-4583-1F7B-B796-221A5EA7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EBEBD9-1BE4-98C3-8D37-5F644FC6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2BD97-5F73-76D4-5F97-A5D0166D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048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89CAB-E69B-FB0F-D9BE-3B09FFC8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0CA831-73B1-CE6B-DFE1-8118AF46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57E765-2AFC-CEE8-9814-0E096627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D6F8C-C072-C4D2-6A3B-1D05C3C8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0889F-9B4B-697F-35F6-B18C0AEC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062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CB54A-D810-562C-9F6B-415C786A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BC94B5-F7C0-EF25-C624-1A934A74C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303A7C-81B2-2DE8-BC97-BD44410C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635898-50F5-7FAF-F2F4-F69EA564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EAD49-6FB1-AE57-CE22-E163581A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417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7B280-E6B5-4DC6-7CE2-6DEF6C64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99A94A-9689-3342-2B4E-C22E049EE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7AD434-2DCC-CDF8-C9E4-1C7A94ECE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17310A-8651-F26C-9ED7-E707347C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405475-4041-CEC9-F0CD-BDF943C5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49A407-C97C-FC49-2C4B-62C7BBC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978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363C8-A729-23FC-A851-CF112337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22A853-6D43-971D-7FA3-69FB66CE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E0172A-4C33-5A05-52BE-99EF225FE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823C01D-6F36-0583-A33B-8B562AC4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14BB8E-C2C5-87CC-5ECD-EE3E56F6A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63A299-C5B0-7A87-3492-CF85701D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ACB0EC-C0E2-E320-9DC2-C635E3BB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455B9B-5D64-C028-C0AB-3FC1E471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611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18DE4-6A15-9142-00F8-20ED02D5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29CEC2-9835-9E31-2910-77CE59E4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8B7D19-9AAA-59EB-76FD-017F99D5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86C92F-29EF-4F07-E35C-188AF5BE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796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A85B8A-15FD-5DA5-C950-2F49FF93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AFA645-B81A-E0B6-6E45-6CEA8377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91ECE6-43FB-F3D0-AE28-A13DAF52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593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8675D-8964-D888-1042-23504536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1E39EF-5D6A-ACFE-25E2-9BF3D6888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5899FB-322F-A4DE-E140-1528AD9DD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B73A23-477F-894A-E6F4-CC720E6F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26EA1A-6600-94A3-BC70-1F1C60E2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A3792B-FDAB-D4DF-8CAF-9CE2D46E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351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BA30E-A82C-F82F-75ED-7E471F650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57ACB6-3719-41EA-FA6D-0765A625C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A6EA04-D6CD-B301-C2EA-CEE5B8BE6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22D21F-8CC5-6C44-312C-8F5E73E8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5B2640-3A23-D006-5AA2-74947CAF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D14016-7C1C-4ECD-41D5-A76457AC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13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018E8-1148-87AB-5ECE-7B200712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D77E52-1708-CBE4-B004-26F05CAF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2A79EF-DE94-0897-178F-FA814026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803B6-2A4B-7F0C-67A5-5CC625B8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9CB121-775B-E883-7F5A-B092437A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118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6FFF61-D4AC-D883-5711-375B98806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573430-6296-BBD8-7703-2A66D9791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DD254-D345-593A-F96C-EAAA7983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3E33FE-41F4-8777-F5C4-F04A3CD9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32214B-0CD8-7CDE-9EEB-C43483D7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4647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BB42D0-509A-3224-94B5-57F01E67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67BAA-EBA3-07DD-2F59-41DECC4A1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FF208F-8D3E-0662-F494-1781FCC9E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068AF-3DE0-4928-AD4C-FA44C93F4ADC}" type="datetimeFigureOut">
              <a:rPr lang="es-PE" smtClean="0"/>
              <a:t>17/11/2025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02D8F1-36CE-DBD0-9975-21572C4AE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31041-4D11-D16B-BB47-A570A6951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8893A-4815-4C12-A3EA-C4CF7A21CF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979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EE59E-4361-EC99-DD9C-872EDA414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98A9B-3C3D-2F5A-8D05-1219112D9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8631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FEBF8-FDC3-9D80-BCFD-0BF9E569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Identidad y propósito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AAE5469-4128-3FC5-C1B5-D310A0A87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966962"/>
              </p:ext>
            </p:extLst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892007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080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Resumen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03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Misión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Promover la formación integral de futbolistas femeninas (habilidades técnicas, físicas, mentales) y en valores (disciplina, esfuerzo, igualdad), buscando la alta competitividad a través de una experiencia educativa, inclusiva y enriquecedora.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618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Consolidarse como una academia referente en el Perú por su excelencia deportiva y compromiso con la formación de alto nivel. Aspirar a inspirar a nuevas generaciones, promoviendo la profesionalización y la equidad de género.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60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Valores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Disciplina, Trabajo en equipo, Respeto, Perseverancia, Responsabilidad, Equidad de género, Identidad institucional, Solidaridad, Excelencia, Juego limpio.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57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1A4AC-F47C-E6E1-8E27-A165213E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Diagnóstico y contexto </a:t>
            </a:r>
            <a:r>
              <a:rPr lang="es-PE" dirty="0" err="1"/>
              <a:t>rstratégico</a:t>
            </a:r>
            <a:endParaRPr lang="es-PE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22D45D46-966F-16A1-0111-085DD2D6E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751749"/>
              </p:ext>
            </p:extLst>
          </p:nvPr>
        </p:nvGraphicFramePr>
        <p:xfrm>
          <a:off x="838200" y="1825625"/>
          <a:ext cx="10515597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505797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082840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1758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Factores Clave (Impacto Alto)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Acciones Estratégicas Clave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7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PESTEL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Oportunidades: Políticas que impulsan el deporte juvenil femenino y el creciente interés social por el fútbol femenino.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Gestionar alianzas con empresas y autoridades para fortalecer la sostenibilidad económica (DAFO: D2+O4)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41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5 Fuerzas de Porter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Rivalidad entre competidores (alto impacto)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Diferenciar al club mediante su fuerte identidad y propuesta de valor única (formación integral, identidad amazónica).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1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DAFO (Síntesis de Debilidades)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Falta de infraestructura propia y limitado presupuesto inicial.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Buscar acuerdos formales para asegurar espacios deportivos estables (DAFO: D1+A2).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20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67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7A242-6A5D-94CC-207C-A973A4B3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9" y="131094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dirty="0"/>
              <a:t>Objetivos estratégicos y gestión de actores </a:t>
            </a:r>
            <a:endParaRPr lang="es-PE" sz="36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A6FFADC-69C5-B3D6-D1F6-F746D53E9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216001"/>
              </p:ext>
            </p:extLst>
          </p:nvPr>
        </p:nvGraphicFramePr>
        <p:xfrm>
          <a:off x="453189" y="1167899"/>
          <a:ext cx="1031106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021">
                  <a:extLst>
                    <a:ext uri="{9D8B030D-6E8A-4147-A177-3AD203B41FA5}">
                      <a16:colId xmlns:a16="http://schemas.microsoft.com/office/drawing/2014/main" val="3693870083"/>
                    </a:ext>
                  </a:extLst>
                </a:gridCol>
                <a:gridCol w="3437021">
                  <a:extLst>
                    <a:ext uri="{9D8B030D-6E8A-4147-A177-3AD203B41FA5}">
                      <a16:colId xmlns:a16="http://schemas.microsoft.com/office/drawing/2014/main" val="1605918747"/>
                    </a:ext>
                  </a:extLst>
                </a:gridCol>
                <a:gridCol w="3437021">
                  <a:extLst>
                    <a:ext uri="{9D8B030D-6E8A-4147-A177-3AD203B41FA5}">
                      <a16:colId xmlns:a16="http://schemas.microsoft.com/office/drawing/2014/main" val="3512154071"/>
                    </a:ext>
                  </a:extLst>
                </a:gridCol>
              </a:tblGrid>
              <a:tr h="292669">
                <a:tc>
                  <a:txBody>
                    <a:bodyPr/>
                    <a:lstStyle/>
                    <a:p>
                      <a:r>
                        <a:rPr lang="es-ES" dirty="0"/>
                        <a:t>Actor Clave (Interés/Poder)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Rol e Influencia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Estrategia de Gestión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426291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r>
                        <a:rPr lang="es-PE" dirty="0"/>
                        <a:t>Entrenadores (5/5)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Responsables directos del rendimiento, formación y modelo deportivo.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Brindar capacitación permanente e incentivos por desempeño.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967383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r>
                        <a:rPr lang="es-PE" dirty="0"/>
                        <a:t>Factores Económicos/Políticos (5/5)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Condicionan la estabilidad financiera y la expansión.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Gestionar alianzas con empresas, patrocinadores y autoridades.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06718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r>
                        <a:rPr lang="es-PE" dirty="0"/>
                        <a:t>Deportistas Estudiantes (5/4)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Eje central, su compromiso determina resultados.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Fomentar comunicación cercana y programas de desarrollo integral.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26314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0C70932-0C20-C943-4C7B-EFB941E1F57A}"/>
              </a:ext>
            </a:extLst>
          </p:cNvPr>
          <p:cNvSpPr txBox="1"/>
          <p:nvPr/>
        </p:nvSpPr>
        <p:spPr>
          <a:xfrm>
            <a:off x="453189" y="4421238"/>
            <a:ext cx="7407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Objetivos Estratégicos SMART Destacados: </a:t>
            </a:r>
          </a:p>
          <a:p>
            <a:pPr marL="342900" indent="-342900">
              <a:buAutoNum type="arabicPeriod"/>
            </a:pPr>
            <a:r>
              <a:rPr lang="es-ES" dirty="0"/>
              <a:t>Rendimiento: Fortalecer la preparación técnica, física y táctica del equipo Sub-16 (Plazo: 12 meses). </a:t>
            </a:r>
          </a:p>
          <a:p>
            <a:pPr marL="342900" indent="-342900">
              <a:buAutoNum type="arabicPeriod"/>
            </a:pPr>
            <a:r>
              <a:rPr lang="es-ES" dirty="0"/>
              <a:t>Crecimiento: Incrementar la cantidad de jugadoras inscritas en un 30% mediante campañas de captación (Plazo: 6 a 8 meses). </a:t>
            </a:r>
          </a:p>
          <a:p>
            <a:pPr marL="342900" indent="-342900">
              <a:buAutoNum type="arabicPeriod"/>
            </a:pPr>
            <a:r>
              <a:rPr lang="es-ES" dirty="0"/>
              <a:t>Profesionalización: Desarrollar tres capacitaciones anuales para entrenadoras sobre metodología, liderazgo y prevención de lesiones (Plazo: 12 meses).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0203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3304E-9EA7-C21F-3083-4DFCF4AD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Necesidades Operacionales y Procesos Críticos (MAPROS)</a:t>
            </a:r>
            <a:endParaRPr lang="es-PE" sz="36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A0ECEF3-37CB-258A-A482-591E6F263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478477"/>
              </p:ext>
            </p:extLst>
          </p:nvPr>
        </p:nvGraphicFramePr>
        <p:xfrm>
          <a:off x="838200" y="1825625"/>
          <a:ext cx="1051559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640753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853066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68768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Área Operacional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Requerimientos Clave (Prioridad Alta)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Procesos Críticos (MAPROS)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78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Material Deportivo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Balones (para juego), Escaleras de agilidad y Aros de coordinación (para entrenamiento técnico-táctico), Cronómetros/pulsómetros (para seguimiento de rendimiento).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Ante una Emergencia: Identificar, asegurar el área, llamar a seguridad/emergencia médica, primeros auxilios, registrar.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945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Formación y Seguridad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Chalecos (para diferenciación de equipos), Balones medicinales y Cajones pliométricos (para preparación física).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 Caso de Acoso Sexual: Recibir denuncia confidencial, brindar apoyo emocional, activar Comité de Ética, investigación formal y seguimiento.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2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59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7028E-B259-1C19-2B2E-D6DD7908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68" y="1"/>
            <a:ext cx="10515600" cy="1210244"/>
          </a:xfrm>
        </p:spPr>
        <p:txBody>
          <a:bodyPr>
            <a:normAutofit/>
          </a:bodyPr>
          <a:lstStyle/>
          <a:p>
            <a:r>
              <a:rPr lang="es-ES" sz="3200" dirty="0"/>
              <a:t>Conclusión y Estrategia de Crecimiento</a:t>
            </a:r>
            <a:endParaRPr lang="es-PE" sz="32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685BA5B-514F-AC42-A3DB-217DAD6E1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2770"/>
              </p:ext>
            </p:extLst>
          </p:nvPr>
        </p:nvGraphicFramePr>
        <p:xfrm>
          <a:off x="328862" y="922869"/>
          <a:ext cx="10900612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0306">
                  <a:extLst>
                    <a:ext uri="{9D8B030D-6E8A-4147-A177-3AD203B41FA5}">
                      <a16:colId xmlns:a16="http://schemas.microsoft.com/office/drawing/2014/main" val="2208360483"/>
                    </a:ext>
                  </a:extLst>
                </a:gridCol>
                <a:gridCol w="5450306">
                  <a:extLst>
                    <a:ext uri="{9D8B030D-6E8A-4147-A177-3AD203B41FA5}">
                      <a16:colId xmlns:a16="http://schemas.microsoft.com/office/drawing/2014/main" val="3636614946"/>
                    </a:ext>
                  </a:extLst>
                </a:gridCol>
              </a:tblGrid>
              <a:tr h="210730">
                <a:tc>
                  <a:txBody>
                    <a:bodyPr/>
                    <a:lstStyle/>
                    <a:p>
                      <a:r>
                        <a:rPr lang="es-ES" sz="1400" dirty="0"/>
                        <a:t>Tipo de Estrategia</a:t>
                      </a:r>
                      <a:endParaRPr lang="es-P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Enfoque y Acción Clave </a:t>
                      </a:r>
                      <a:endParaRPr lang="es-P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02329"/>
                  </a:ext>
                </a:extLst>
              </a:tr>
              <a:tr h="831373">
                <a:tc>
                  <a:txBody>
                    <a:bodyPr/>
                    <a:lstStyle/>
                    <a:p>
                      <a:r>
                        <a:rPr lang="es-PE" sz="1400" dirty="0"/>
                        <a:t>Estrategias Ofensivas (FO)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Aprovechar Identidad y Redes Sociales: Usar la identidad "Las </a:t>
                      </a:r>
                      <a:r>
                        <a:rPr lang="es-ES" sz="1400" dirty="0" err="1"/>
                        <a:t>Charapitas</a:t>
                      </a:r>
                      <a:r>
                        <a:rPr lang="es-ES" sz="1400" dirty="0"/>
                        <a:t>" y la presencia digital creciente para captar más jugadoras y visibilizar el fútbol femenino, alineado al auge del deporte (F2+O5).</a:t>
                      </a:r>
                      <a:endParaRPr lang="es-P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159668"/>
                  </a:ext>
                </a:extLst>
              </a:tr>
              <a:tr h="831373">
                <a:tc>
                  <a:txBody>
                    <a:bodyPr/>
                    <a:lstStyle/>
                    <a:p>
                      <a:r>
                        <a:rPr lang="es-PE" sz="1400" dirty="0"/>
                        <a:t>Estrategias Adaptativas (DO)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Alianzas para Infraestructura/Fondos: Crear alianzas con colegios o municipalidades para suplir la falta de infraestructura propia (D1+O3) y buscar auspiciadores locales para reducir la dependencia de aportes internos (D2+O4). </a:t>
                      </a:r>
                      <a:endParaRPr lang="es-P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979316"/>
                  </a:ext>
                </a:extLst>
              </a:tr>
              <a:tr h="831373">
                <a:tc>
                  <a:txBody>
                    <a:bodyPr/>
                    <a:lstStyle/>
                    <a:p>
                      <a:r>
                        <a:rPr lang="es-PE" sz="1400" dirty="0"/>
                        <a:t>Estrategias Defensivas (DA)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Formalización y Estabilidad: Establecer procesos administrativos básicos para prevenir problemas burocráticos (D3+A6) y buscar acuerdos formales para asegurar espacios deportivos estables ante restricciones (D1+A2).</a:t>
                      </a:r>
                      <a:endParaRPr lang="es-P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9944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5D4D7AC-F32D-97F9-29BB-B0F3FD2A650A}"/>
              </a:ext>
            </a:extLst>
          </p:cNvPr>
          <p:cNvSpPr txBox="1"/>
          <p:nvPr/>
        </p:nvSpPr>
        <p:spPr>
          <a:xfrm>
            <a:off x="3048000" y="4062309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Recomendaciones Finales: </a:t>
            </a:r>
          </a:p>
          <a:p>
            <a:r>
              <a:rPr lang="es-ES" sz="1600" dirty="0"/>
              <a:t>● Priorizar la Sostenibilidad: Enfocar los primeros esfuerzos en la obtención de auspicios y el aseguramiento de espacios de entrenamiento (DO1, DO4, DA3). </a:t>
            </a:r>
          </a:p>
          <a:p>
            <a:r>
              <a:rPr lang="es-ES" sz="1600" dirty="0"/>
              <a:t>● Reforzar la Identidad: Usar la fuerte identidad del club como principal herramienta de diferenciación y defensa contra la alta rivalidad (FA1). </a:t>
            </a:r>
          </a:p>
          <a:p>
            <a:r>
              <a:rPr lang="es-ES" sz="1600" dirty="0"/>
              <a:t>● Garantizar la Seguridad: Mantener la implementación de protocolos de emergencia y acoso como un pilar fundamental de la gestión de riesgos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23118396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713</Words>
  <Application>Microsoft Office PowerPoint</Application>
  <PresentationFormat>Panorámica</PresentationFormat>
  <Paragraphs>62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Identidad y propósito</vt:lpstr>
      <vt:lpstr>Diagnóstico y contexto rstratégico</vt:lpstr>
      <vt:lpstr>Objetivos estratégicos y gestión de actores </vt:lpstr>
      <vt:lpstr>Necesidades Operacionales y Procesos Críticos (MAPROS)</vt:lpstr>
      <vt:lpstr>Conclusión y Estrategia de Crecimiento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Amaya Campos Jose Enrique - Practicante</dc:creator>
  <cp:lastModifiedBy>Amaya Campos Jose Enrique - Practicante</cp:lastModifiedBy>
  <cp:revision>1</cp:revision>
  <dcterms:created xsi:type="dcterms:W3CDTF">2025-11-17T14:01:27Z</dcterms:created>
  <dcterms:modified xsi:type="dcterms:W3CDTF">2025-11-17T14:03:45Z</dcterms:modified>
</cp:coreProperties>
</file>